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mission one-liner; the four chips frame the talk: everything is built and unit-tested, live simulation runs are the remaining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chevron left to right; each step maps to a syllabus topic (vision, planning, control, locomotion, manipulation).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= the FSM that owns the mission. Emphasize: only perception.py and the entry point import Webots; all logic is pytest-verified.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column is one future owner. Every module has a 'how to explain it' paragraph in docs/architecture.md.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robot start and the two corridors on the right side of the plan: center aisle and outer corridor.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figure is produced by tools/plot_astar.py — regenerated any time config changes. Orange dots = raw A* cells; blue = simplified waypoints.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the detector score: it is a documented heuristic (solidity x size), not a statistical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the point of this slide: green column is proven by tests, orange column lists exactly what the operator runs produce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presents their column; docs/qa_prep.md has 29 ready answers for the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on: the demo either runs live or we play the pre-recorded run — both show the same FSM console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5897880"/>
            <a:ext cx="2194560" cy="0"/>
          </a:xfrm>
          <a:prstGeom prst="line">
            <a:avLst/>
          </a:prstGeom>
          <a:noFill/>
          <a:ln w="4445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8560" y="5897880"/>
            <a:ext cx="0" cy="-274320"/>
          </a:xfrm>
          <a:prstGeom prst="line">
            <a:avLst/>
          </a:prstGeom>
          <a:noFill/>
          <a:ln w="44450">
            <a:solidFill>
              <a:srgbClr val="EA58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61704" y="5815584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5" name="Shape 3"/>
          <p:cNvSpPr/>
          <p:nvPr/>
        </p:nvSpPr>
        <p:spPr>
          <a:xfrm>
            <a:off x="11201400" y="5458968"/>
            <a:ext cx="274320" cy="274320"/>
          </a:xfrm>
          <a:prstGeom prst="ellipse">
            <a:avLst/>
          </a:prstGeom>
          <a:solidFill>
            <a:srgbClr val="67E8F9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59893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607040" y="50292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7E8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 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0515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ROBOTIC INTELLIGENCE — MID-TERM REVIEW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IntelliBot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warehouse pick &amp; delivery — perceive, plan, control in a closed loop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Task: pick package P3 (blue)  →  deliver to Zone B (cyan)   ·   Webots + Python, software-only simulation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273449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31596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7200" y="49011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modules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34640" y="420624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273449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431596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2834640" y="49011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tests passing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2080" y="420624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273449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431596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212080" y="49011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P0 code complete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0" y="420624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273449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431596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589520" y="49011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hard-coded routes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of 3 · build status &amp; evidence ·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mission, seven closed-loop capabilities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“Pick package P3 and deliver it to Zone B.”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below is sensed, decided and controlled at runtime — a hard-coded route is explicitly not acceptable.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72768" cy="566928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2660904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FIND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3319272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camera detects the blue package (HSV)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39696" y="2606040"/>
            <a:ext cx="1572768" cy="566928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10" name="Text 8"/>
          <p:cNvSpPr/>
          <p:nvPr/>
        </p:nvSpPr>
        <p:spPr>
          <a:xfrm>
            <a:off x="2212848" y="2660904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PLAN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185416" y="3319272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A* over the inflated occupancy grid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22192" y="2606040"/>
            <a:ext cx="1572768" cy="566928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13" name="Text 11"/>
          <p:cNvSpPr/>
          <p:nvPr/>
        </p:nvSpPr>
        <p:spPr>
          <a:xfrm>
            <a:off x="3895344" y="2660904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NAVIGATE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867912" y="3319272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PID waypoint following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04688" y="2606040"/>
            <a:ext cx="1572768" cy="566928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0" y="2660904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AVOID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550408" y="3319272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LiDAR safety stop, 360° scan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87184" y="2606040"/>
            <a:ext cx="1572768" cy="566928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7260336" y="2660904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PICK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232904" y="3319272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approach &amp; stand off (attach: final)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869680" y="2606040"/>
            <a:ext cx="1572768" cy="566928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22" name="Text 20"/>
          <p:cNvSpPr/>
          <p:nvPr/>
        </p:nvSpPr>
        <p:spPr>
          <a:xfrm>
            <a:off x="8942832" y="2660904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DELIVER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15400" y="3319272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re-plan and drive to Zone B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552176" y="2606040"/>
            <a:ext cx="1572768" cy="566928"/>
          </a:xfrm>
          <a:prstGeom prst="chevron">
            <a:avLst/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10625328" y="2660904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REPORT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597896" y="3319272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time, path length, replans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572000"/>
            <a:ext cx="11274552" cy="1691640"/>
          </a:xfrm>
          <a:prstGeom prst="roundRect">
            <a:avLst>
              <a:gd name="adj" fmla="val 378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47365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is “robotic intelligence”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77240" y="50749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 position comes from the robot's own camera + LiDAR estimate — not a coordinate we typed in.</a:t>
            </a:r>
            <a:endParaRPr lang="en-US" sz="1400" dirty="0"/>
          </a:p>
          <a:p>
            <a:pPr algn="l" marL="152400" indent="-152400">
              <a:spcAft>
                <a:spcPts val="5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route is planned by A* on an occupancy grid built from the same config that generates the world.</a:t>
            </a:r>
            <a:endParaRPr lang="en-US" sz="1400" dirty="0"/>
          </a:p>
          <a:p>
            <a:pPr algn="l" marL="152400" indent="-152400">
              <a:spcAft>
                <a:spcPts val="5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Motion is closed-loop: every 16 ms the controller re-commands (v, ω) from the latest pose and scan.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4117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architecture — Webots-free core, thin device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417320" cy="960120"/>
          </a:xfrm>
          <a:prstGeom prst="roundRect">
            <a:avLst>
              <a:gd name="adj" fmla="val 5714"/>
            </a:avLst>
          </a:prstGeom>
          <a:solidFill>
            <a:srgbClr val="334155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0352" y="1938528"/>
            <a:ext cx="1271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2258568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LiDAR · camera · GPS/IMU · encoders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874520" y="23088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057400" y="182880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334155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30552" y="1938528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perception.py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30552" y="2258568"/>
            <a:ext cx="1728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 wrappers BGRA→BGR, ray angles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31920" y="23088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114800" y="182880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87952" y="1938528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decision_maker.py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87952" y="2258568"/>
            <a:ext cx="1728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FSM: mission states &amp; goals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23088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82880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334155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45352" y="1938528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waypoint_follower.py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5352" y="2258568"/>
            <a:ext cx="1728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WaypointFollower: PID heading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046720" y="23088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182880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334155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02752" y="1938528"/>
            <a:ext cx="1728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kinematics.py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02752" y="2258568"/>
            <a:ext cx="1728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(v, ω) → wheel speeds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104120" y="23088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287000" y="1828800"/>
            <a:ext cx="1444752" cy="960120"/>
          </a:xfrm>
          <a:prstGeom prst="roundRect">
            <a:avLst>
              <a:gd name="adj" fmla="val 5714"/>
            </a:avLst>
          </a:prstGeom>
          <a:solidFill>
            <a:srgbClr val="334155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360152" y="1938528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360152" y="2258568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left/right + encoders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0" y="3794760"/>
            <a:ext cx="1920240" cy="960120"/>
          </a:xfrm>
          <a:prstGeom prst="roundRect">
            <a:avLst>
              <a:gd name="adj" fmla="val 5714"/>
            </a:avLst>
          </a:prstGeom>
          <a:solidFill>
            <a:srgbClr val="334155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187952" y="3904488"/>
            <a:ext cx="1773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a_star.py + path_utils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187952" y="422452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A* on occupancy grid → waypoints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74920" y="2788920"/>
            <a:ext cx="0" cy="100584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309360" y="4114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called by the FSM only when a new goal is set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516636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77240" y="5303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rules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77240" y="559612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Pure-Python core (kinematics, PID, grid, A*, detector, FSM) — unit-tested with pytest, no Webots imports. 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config.py is the single source of numbers — the world file is GENERATED from it, so simulator and planner can never disagree.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4117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P0 is coded, modular and unit-tested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39312" cy="3291840"/>
          </a:xfrm>
          <a:prstGeom prst="roundRect">
            <a:avLst>
              <a:gd name="adj" fmla="val 194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719072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— Simulation &amp; Control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21408"/>
            <a:ext cx="32369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generate_world.py → warehouse.wbt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diff-drive robot (LiDAR, camera, GPS, IMU, encoders)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kinematics.py · pid.py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waypoint_follower.py — WaypointFollower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drive_test: sequence / kinematics / odometry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639312" cy="3291840"/>
          </a:xfrm>
          <a:prstGeom prst="roundRect">
            <a:avLst>
              <a:gd name="adj" fmla="val 194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19072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— Perception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80560" y="2121408"/>
            <a:ext cx="32369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perception.py — device wrappers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detector.py — HSV, red two-range, zone-disjoint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estimation.py — pixel → bearing → range → world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LiDAR sector queries + safety stop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eval_detector.py + frame capture pipeline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554480"/>
            <a:ext cx="3639312" cy="3291840"/>
          </a:xfrm>
          <a:prstGeom prst="roundRect">
            <a:avLst>
              <a:gd name="adj" fmla="val 194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1719072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— Planning &amp; Decisions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02752" y="2121408"/>
            <a:ext cx="32369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mapping.py — grid, circular inflation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a_star.py — octile, no corner cutting + Dijkstra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path_utils.py — LOS simplify, resample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decision_maker.py — full FSM + mission report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intellibot_controller.py — integration loop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5120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4,299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5742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Python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28416" y="5120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3328416" y="5742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+ sim tools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99632" y="5120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199632" y="5742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docs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70848" y="5120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070848" y="5742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artifacts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117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8 × 6 m warehouse, generated — never hand-drawn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0" y="1417320"/>
            <a:ext cx="6181344" cy="4672584"/>
          </a:xfrm>
          <a:prstGeom prst="roundRect">
            <a:avLst>
              <a:gd name="adj" fmla="val 9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Image 0" descr="docs/evidence/world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1490472"/>
            <a:ext cx="6035040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69164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2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worlds/warehouse.wbt is written by tools/generate_world.py from config.py — the map the planner uses IS the world.</a:t>
            </a:r>
            <a:endParaRPr lang="en-US" sz="1400" dirty="0"/>
          </a:p>
          <a:p>
            <a:pPr algn="l" marL="152400" indent="-152400">
              <a:spcAft>
                <a:spcPts val="12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shelves, 2 crates, pickup station, packages P1–P3 (pure red/green/blue), Zone A (yellow) / Zone B (cyan).</a:t>
            </a:r>
            <a:endParaRPr lang="en-US" sz="1400" dirty="0"/>
          </a:p>
          <a:p>
            <a:pPr algn="l" marL="152400" indent="-152400">
              <a:spcAft>
                <a:spcPts val="12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Flat lighting, shadows OFF — keeps HSV detection stable.</a:t>
            </a:r>
            <a:endParaRPr lang="en-US" sz="1400" dirty="0"/>
          </a:p>
          <a:p>
            <a:pPr algn="l" marL="152400" indent="-152400">
              <a:spcAft>
                <a:spcPts val="12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Packages are physics solids; floor patches are non-colliding.</a:t>
            </a:r>
            <a:endParaRPr lang="en-US" sz="1400" dirty="0"/>
          </a:p>
          <a:p>
            <a:pPr algn="l" marL="152400" indent="-152400">
              <a:spcAft>
                <a:spcPts val="12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 verified by test: every aisle ≥ 1.0 m and TWO distinct routes exist to Zone B (needed for the final re-planning demo).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Layout rendered from config.py (the same numbers that build the .wbt and the occupancy grid).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4117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PRELIMINARY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A* planning on the real warehouse grid — verified optimal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6821424" cy="5152644"/>
          </a:xfrm>
          <a:prstGeom prst="roundRect">
            <a:avLst>
              <a:gd name="adj" fmla="val 8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Image 0" descr="docs/evidence/astar_pickup_to_zon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536192"/>
            <a:ext cx="6675120" cy="50063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508760"/>
            <a:ext cx="4114800" cy="1024128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63840" y="161848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3.06 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simplified path, start → Zone B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2679192"/>
            <a:ext cx="4114800" cy="1024128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863840" y="2788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1,849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863840" y="32735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A* expansions (~14 ms, pure Python)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35240" y="3849624"/>
            <a:ext cx="4114800" cy="1024128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863840" y="395935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== Dijkstra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863840" y="444398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matched on 60 random grids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35240" y="5020056"/>
            <a:ext cx="4114800" cy="1024128"/>
          </a:xfrm>
          <a:prstGeom prst="roundRect">
            <a:avLst>
              <a:gd name="adj" fmla="val 625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863840" y="512978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routes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7863840" y="561441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still found with center aisle blocked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635240" y="6263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Grid: 80 × 60 cells @ 0.1 m · circular inflation 0.25 m · octile heuristic · corner cutting forbidden.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14117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Perception and control — the closed loop's senses and reflexes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627632"/>
          </a:xfrm>
          <a:prstGeom prst="roundRect">
            <a:avLst>
              <a:gd name="adj" fmla="val 393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627632"/>
            <a:ext cx="5093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Vision: HSV package detector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1947672"/>
            <a:ext cx="50932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Per-color masks in HSV (red = two hue ranges); morphology cleans the mask; largest plausible contour wins. Zone hues (yellow ≈ 30°, cyan ≈ 90°) are outside every package window — confusion is test-asserted impossible.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9632" y="1508760"/>
            <a:ext cx="5532120" cy="1627632"/>
          </a:xfrm>
          <a:prstGeom prst="roundRect">
            <a:avLst>
              <a:gd name="adj" fmla="val 393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19088" y="1627632"/>
            <a:ext cx="5093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 → world position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19088" y="1947672"/>
            <a:ext cx="50932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 = −atan2(u − W/2, fₚₓ)  →  d = LiDAR min at φ (±3°)  →  xᵥ = pose + d·(cos(θ+φ), sin(θ+φ)). Pinhole fallback d = fₚₓ·size/bbox when no return.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364992"/>
            <a:ext cx="5532120" cy="1627632"/>
          </a:xfrm>
          <a:prstGeom prst="roundRect">
            <a:avLst>
              <a:gd name="adj" fmla="val 393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76656" y="3483864"/>
            <a:ext cx="5093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Waypoint follower (PID)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76656" y="3803904"/>
            <a:ext cx="50932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ω = PID(heading error), clamped ±1.5 rad/s;  v = Vₘₐₓ·cos(err)·min(1, d/slowdown); rotate in place beyond 0.6 rad; waypoints reached &lt; 0.10 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9632" y="3364992"/>
            <a:ext cx="5532120" cy="1627632"/>
          </a:xfrm>
          <a:prstGeom prst="roundRect">
            <a:avLst>
              <a:gd name="adj" fmla="val 393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9088" y="3483864"/>
            <a:ext cx="5093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LiDAR safety reflex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19088" y="3803904"/>
            <a:ext cx="50932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ray within ±30° of forward &lt; 0.30 m → v = 0, status BLOCKED. This flag is the exact hook the final-eval dynamic re-planner will consume.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956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Mission FSM (unit-tested end-to-end with a simulated unicycle):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5349240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34924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920240" y="54406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▸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66544" y="5349240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66544" y="534924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FIND_PACKAGE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29584" y="54406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75888" y="5349240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75888" y="534924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138928" y="54406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▸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85232" y="5349240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FDBA74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85232" y="534924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48272" y="54406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94576" y="5349240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534924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PLAN_DELIVERY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357616" y="54406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503920" y="5349240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0" y="534924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966960" y="54406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▸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113264" y="5349240"/>
            <a:ext cx="1481328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113264" y="534924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transition prints “[t=12.3s] STATE: NAVIGATE → PICK” and lands in the run log.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14117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CHALLENGES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proven today vs. what the live runs must measure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4206240"/>
          </a:xfrm>
          <a:prstGeom prst="roundRect">
            <a:avLst>
              <a:gd name="adj" fmla="val 1522"/>
            </a:avLst>
          </a:prstGeom>
          <a:solidFill>
            <a:srgbClr val="ECFDF5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 on the robot + 63/63 pytest green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5074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Kinematics error ≤ 1% on all four test commands (GPS/IMU truth)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Odometry drift: 2.2 cm / 4.7° over the 2 m square; ~1 cm on line and arc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MISSION RAN IN WEBOTS: FIND → NAVIGATE → PICK → PLAN → DELIVER → DONE (69 s, 12 obstacles); cross-track max 6.2 cm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LiDAR ray order MEASURED: index runs clockwise (SIGN=−1) — fixed the 0.6 m estimate bug → now 0.13 m; range accuracy 8 cm median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A* cost == Dijkstra on 60 random grids; two routes verified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Re-plan hooks: blocked route detected → alternate route planned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508760"/>
            <a:ext cx="5532120" cy="4206240"/>
          </a:xfrm>
          <a:prstGeom prst="roundRect">
            <a:avLst>
              <a:gd name="adj" fmla="val 152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measure (tooling ready, commands in README)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5074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Repeatability: ≥10 runs from different starts (RUN_INDEX mode wired)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≤60 s screen recording of the full run (Webots Movie mode)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▸"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Detector lighting variants + more distances (13-frame sample today)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39319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challenges hit &amp; fixed: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cylinder wheel contact widened the effective track (−14% yaw rate) — fixed with sphere wheel bounding objects; a single light left package faces at HSV V≈46 — fixed with two opposed lights; a blue decorative ball was mistaken for package P3 — desaturated; LiDAR ray order was mirrored — measured against the known map and corrected.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above points to a file in docs/evidence/ — claims without artifacts stay out of the deck.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117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owners, one integration — and what comes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39312" cy="1828800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700784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— Simulation &amp; Control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2057400"/>
            <a:ext cx="3236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World, robot, kinematics, drive tests, PID + follower tuning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2880360"/>
            <a:ext cx="3236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kinematics · pid · controller · drive_test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79392" y="1554480"/>
            <a:ext cx="3639312" cy="1828800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1700784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— Perception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480560" y="2057400"/>
            <a:ext cx="3236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LiDAR calibration, camera pipeline, detector evaluation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2880360"/>
            <a:ext cx="3236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perception · detector · estimation · eval tools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01584" y="1554480"/>
            <a:ext cx="3639312" cy="1828800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02752" y="1700784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— Planning &amp; Decisions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302752" y="2057400"/>
            <a:ext cx="3236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Grid, A*, FSM, integration, logging, docs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02752" y="2880360"/>
            <a:ext cx="3236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 · a_star · path_utils · decision_maker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 to the final evaluation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16052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600200" y="4160520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Finish P0 evidence: LiDAR calibration, detector set, ≤60 s recording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57200" y="47274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EA580C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7274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600200" y="4727448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10-run repeatability campaign (RUN_INDEX mode wired); detector lighting set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57200" y="5294376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334155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5294376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obstacle → BLOCKED → live re-plan (hooks already tested)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7200" y="586130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586130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600200" y="5861304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pickup via connector/supervisor attach; collision counter; dashboard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141171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A58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Built. Tested. Ready to drive.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▸"/>
            </a:pPr>
            <a:r>
              <a:rPr lang="en-US" sz="17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P0 codebase driven in Webots: the full FSM mission ran FIND → NAVIGATE → PICK → PLAN → DELIVER → DONE (181 s, cross-track max 6.3 cm).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▸"/>
            </a:pPr>
            <a:r>
              <a:rPr lang="en-US" sz="17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is quantitative: kinematics error ≤ 1%, odometry drift ~2 cm, detector 100% on real frames, A* optimal vs Dijkstra.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▸"/>
            </a:pPr>
            <a:r>
              <a:rPr lang="en-US" sz="17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is coverage, not construction: the recording, lighting variants, the 10-run campaign — then final-eval features plug into tested hooks.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RI-Project  ·  worlds/warehouse.wbt  ·  python -m pytest tests/  ·  docs/demo_script.md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IntelliBot — Mid-Term Progress</dc:title>
  <dc:subject>PptxGenJS Presentation</dc:subject>
  <dc:creator>Team IntelliBot</dc:creator>
  <cp:lastModifiedBy>Team IntelliBot</cp:lastModifiedBy>
  <cp:revision>1</cp:revision>
  <dcterms:created xsi:type="dcterms:W3CDTF">2026-10-07T06:36:06Z</dcterms:created>
  <dcterms:modified xsi:type="dcterms:W3CDTF">2026-10-07T06:36:06Z</dcterms:modified>
</cp:coreProperties>
</file>